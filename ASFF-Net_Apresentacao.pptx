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217" d="100"/>
          <a:sy n="217" d="100"/>
        </p:scale>
        <p:origin x="156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pt-BR" sz="1100" b="0" i="0" u="none" strike="noStrike">
                <a:solidFill>
                  <a:srgbClr val="FFFFFF"/>
                </a:solidFill>
                <a:latin typeface="Arial"/>
              </a:rPr>
              <a:t>Penalidade vs. resíduo (d = previsto − real)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Loss Assimétrica</c:v>
                </c:pt>
              </c:strCache>
            </c:strRef>
          </c:tx>
          <c:spPr>
            <a:ln w="31750" cap="flat">
              <a:solidFill>
                <a:srgbClr val="FF6B35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F6B35"/>
              </a:solidFill>
              <a:ln w="9525" cap="flat">
                <a:solidFill>
                  <a:srgbClr val="FF6B35"/>
                </a:solidFill>
                <a:prstDash val="solid"/>
                <a:round/>
              </a:ln>
              <a:effectLst/>
            </c:spPr>
          </c:marker>
          <c:cat>
            <c:strRef>
              <c:f>Sheet1!$A$2:$A$22</c:f>
              <c:strCache>
                <c:ptCount val="21"/>
                <c:pt idx="0">
                  <c:v>-30</c:v>
                </c:pt>
                <c:pt idx="1">
                  <c:v>-27</c:v>
                </c:pt>
                <c:pt idx="2">
                  <c:v>-24</c:v>
                </c:pt>
                <c:pt idx="3">
                  <c:v>-21</c:v>
                </c:pt>
                <c:pt idx="4">
                  <c:v>-18</c:v>
                </c:pt>
                <c:pt idx="5">
                  <c:v>-15</c:v>
                </c:pt>
                <c:pt idx="6">
                  <c:v>-12</c:v>
                </c:pt>
                <c:pt idx="7">
                  <c:v>-9</c:v>
                </c:pt>
                <c:pt idx="8">
                  <c:v>-6</c:v>
                </c:pt>
                <c:pt idx="9">
                  <c:v>-3</c:v>
                </c:pt>
                <c:pt idx="10">
                  <c:v>0</c:v>
                </c:pt>
                <c:pt idx="11">
                  <c:v>3</c:v>
                </c:pt>
                <c:pt idx="12">
                  <c:v>6</c:v>
                </c:pt>
                <c:pt idx="13">
                  <c:v>9</c:v>
                </c:pt>
                <c:pt idx="14">
                  <c:v>12</c:v>
                </c:pt>
                <c:pt idx="15">
                  <c:v>15</c:v>
                </c:pt>
                <c:pt idx="16">
                  <c:v>18</c:v>
                </c:pt>
                <c:pt idx="17">
                  <c:v>21</c:v>
                </c:pt>
                <c:pt idx="18">
                  <c:v>24</c:v>
                </c:pt>
                <c:pt idx="19">
                  <c:v>27</c:v>
                </c:pt>
                <c:pt idx="20">
                  <c:v>30</c:v>
                </c:pt>
              </c:strCache>
            </c: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9.0512027875008592</c:v>
                </c:pt>
                <c:pt idx="1">
                  <c:v>6.9798776313198863</c:v>
                </c:pt>
                <c:pt idx="2">
                  <c:v>5.3354056581195017</c:v>
                </c:pt>
                <c:pt idx="3">
                  <c:v>4.0298220984491211</c:v>
                </c:pt>
                <c:pt idx="4">
                  <c:v>2.9932897287521909</c:v>
                </c:pt>
                <c:pt idx="5">
                  <c:v>2.1703631948880653</c:v>
                </c:pt>
                <c:pt idx="6">
                  <c:v>1.5170231739337448</c:v>
                </c:pt>
                <c:pt idx="7">
                  <c:v>0.99832172803885388</c:v>
                </c:pt>
                <c:pt idx="8">
                  <c:v>0.58651289749996827</c:v>
                </c:pt>
                <c:pt idx="9">
                  <c:v>0.2595685362456337</c:v>
                </c:pt>
                <c:pt idx="10">
                  <c:v>0</c:v>
                </c:pt>
                <c:pt idx="11">
                  <c:v>0.34985880757600318</c:v>
                </c:pt>
                <c:pt idx="12">
                  <c:v>0.82211880039050889</c:v>
                </c:pt>
                <c:pt idx="13">
                  <c:v>1.4596031111569499</c:v>
                </c:pt>
                <c:pt idx="14">
                  <c:v>2.3201169227365472</c:v>
                </c:pt>
                <c:pt idx="15">
                  <c:v>3.4816890703380645</c:v>
                </c:pt>
                <c:pt idx="16">
                  <c:v>5.0496474644129465</c:v>
                </c:pt>
                <c:pt idx="17">
                  <c:v>7.1661699125676499</c:v>
                </c:pt>
                <c:pt idx="18">
                  <c:v>10.023176380641601</c:v>
                </c:pt>
                <c:pt idx="19">
                  <c:v>13.879731724872837</c:v>
                </c:pt>
                <c:pt idx="20">
                  <c:v>19.085536923187668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08B8-4025-94D7-E54A6BD0E99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MSE (referência, escalado)</c:v>
                </c:pt>
              </c:strCache>
            </c:strRef>
          </c:tx>
          <c:spPr>
            <a:ln w="31750" cap="flat">
              <a:solidFill>
                <a:srgbClr val="5B6B8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5B6B8C"/>
              </a:solidFill>
              <a:ln w="9525" cap="flat">
                <a:solidFill>
                  <a:srgbClr val="5B6B8C"/>
                </a:solidFill>
                <a:prstDash val="solid"/>
                <a:round/>
              </a:ln>
              <a:effectLst/>
            </c:spPr>
          </c:marker>
          <c:cat>
            <c:strRef>
              <c:f>Sheet1!$A$2:$A$22</c:f>
              <c:strCache>
                <c:ptCount val="21"/>
                <c:pt idx="0">
                  <c:v>-30</c:v>
                </c:pt>
                <c:pt idx="1">
                  <c:v>-27</c:v>
                </c:pt>
                <c:pt idx="2">
                  <c:v>-24</c:v>
                </c:pt>
                <c:pt idx="3">
                  <c:v>-21</c:v>
                </c:pt>
                <c:pt idx="4">
                  <c:v>-18</c:v>
                </c:pt>
                <c:pt idx="5">
                  <c:v>-15</c:v>
                </c:pt>
                <c:pt idx="6">
                  <c:v>-12</c:v>
                </c:pt>
                <c:pt idx="7">
                  <c:v>-9</c:v>
                </c:pt>
                <c:pt idx="8">
                  <c:v>-6</c:v>
                </c:pt>
                <c:pt idx="9">
                  <c:v>-3</c:v>
                </c:pt>
                <c:pt idx="10">
                  <c:v>0</c:v>
                </c:pt>
                <c:pt idx="11">
                  <c:v>3</c:v>
                </c:pt>
                <c:pt idx="12">
                  <c:v>6</c:v>
                </c:pt>
                <c:pt idx="13">
                  <c:v>9</c:v>
                </c:pt>
                <c:pt idx="14">
                  <c:v>12</c:v>
                </c:pt>
                <c:pt idx="15">
                  <c:v>15</c:v>
                </c:pt>
                <c:pt idx="16">
                  <c:v>18</c:v>
                </c:pt>
                <c:pt idx="17">
                  <c:v>21</c:v>
                </c:pt>
                <c:pt idx="18">
                  <c:v>24</c:v>
                </c:pt>
                <c:pt idx="19">
                  <c:v>27</c:v>
                </c:pt>
                <c:pt idx="20">
                  <c:v>30</c:v>
                </c:pt>
              </c:strCache>
            </c:strRef>
          </c:cat>
          <c:val>
            <c:numRef>
              <c:f>Sheet1!$C$2:$C$22</c:f>
              <c:numCache>
                <c:formatCode>General</c:formatCode>
                <c:ptCount val="21"/>
                <c:pt idx="0">
                  <c:v>30</c:v>
                </c:pt>
                <c:pt idx="1">
                  <c:v>24.3</c:v>
                </c:pt>
                <c:pt idx="2">
                  <c:v>19.2</c:v>
                </c:pt>
                <c:pt idx="3">
                  <c:v>14.7</c:v>
                </c:pt>
                <c:pt idx="4">
                  <c:v>10.8</c:v>
                </c:pt>
                <c:pt idx="5">
                  <c:v>7.5</c:v>
                </c:pt>
                <c:pt idx="6">
                  <c:v>4.8</c:v>
                </c:pt>
                <c:pt idx="7">
                  <c:v>2.7</c:v>
                </c:pt>
                <c:pt idx="8">
                  <c:v>1.2</c:v>
                </c:pt>
                <c:pt idx="9">
                  <c:v>0.3</c:v>
                </c:pt>
                <c:pt idx="10">
                  <c:v>0</c:v>
                </c:pt>
                <c:pt idx="11">
                  <c:v>0.3</c:v>
                </c:pt>
                <c:pt idx="12">
                  <c:v>1.2</c:v>
                </c:pt>
                <c:pt idx="13">
                  <c:v>2.7</c:v>
                </c:pt>
                <c:pt idx="14">
                  <c:v>4.8</c:v>
                </c:pt>
                <c:pt idx="15">
                  <c:v>7.5</c:v>
                </c:pt>
                <c:pt idx="16">
                  <c:v>10.8</c:v>
                </c:pt>
                <c:pt idx="17">
                  <c:v>14.7</c:v>
                </c:pt>
                <c:pt idx="18">
                  <c:v>19.2</c:v>
                </c:pt>
                <c:pt idx="19">
                  <c:v>24.3</c:v>
                </c:pt>
                <c:pt idx="20">
                  <c:v>30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08B8-4025-94D7-E54A6BD0E99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5B6B8C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CADCFC"/>
                </a:solidFill>
                <a:latin typeface="Arial"/>
              </a:defRPr>
            </a:pPr>
            <a:endParaRPr lang="pt-B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A5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5B6B8C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CADCFC"/>
                </a:solidFill>
                <a:latin typeface="Arial"/>
              </a:defRPr>
            </a:pPr>
            <a:endParaRPr lang="pt-BR"/>
          </a:p>
        </c:txPr>
        <c:crossAx val="2094734554"/>
        <c:crosses val="autoZero"/>
        <c:crossBetween val="between"/>
      </c:valAx>
      <c:spPr>
        <a:solidFill>
          <a:srgbClr val="1E2761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E2761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pt-BR" sz="1100" b="0" i="0" u="none" strike="noStrike">
                <a:solidFill>
                  <a:srgbClr val="000000"/>
                </a:solidFill>
                <a:latin typeface="Arial"/>
              </a:rPr>
              <a:t>MAE e RMSE por modelo/fase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MAE</c:v>
                </c:pt>
              </c:strCache>
            </c:strRef>
          </c:tx>
          <c:spPr>
            <a:solidFill>
              <a:srgbClr val="5B6B8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B2438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RF (val)</c:v>
                </c:pt>
                <c:pt idx="1">
                  <c:v>RF (teste)</c:v>
                </c:pt>
                <c:pt idx="2">
                  <c:v>ASFF-Net (val)</c:v>
                </c:pt>
                <c:pt idx="3">
                  <c:v>ASFF-Net (teste)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14.47</c:v>
                </c:pt>
                <c:pt idx="1">
                  <c:v>13.67</c:v>
                </c:pt>
                <c:pt idx="2">
                  <c:v>13.45</c:v>
                </c:pt>
                <c:pt idx="3">
                  <c:v>13.24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C1A-4746-B6A9-BDB5BF7F3C8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RMSE</c:v>
                </c:pt>
              </c:strCache>
            </c:strRef>
          </c:tx>
          <c:spPr>
            <a:solidFill>
              <a:srgbClr val="FF6B3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B2438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RF (val)</c:v>
                </c:pt>
                <c:pt idx="1">
                  <c:v>RF (teste)</c:v>
                </c:pt>
                <c:pt idx="2">
                  <c:v>ASFF-Net (val)</c:v>
                </c:pt>
                <c:pt idx="3">
                  <c:v>ASFF-Net (teste)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19.77</c:v>
                </c:pt>
                <c:pt idx="1">
                  <c:v>18.71</c:v>
                </c:pt>
                <c:pt idx="2">
                  <c:v>16.649999999999999</c:v>
                </c:pt>
                <c:pt idx="3">
                  <c:v>16.399999999999999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C1A-4746-B6A9-BDB5BF7F3C8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6B8C"/>
                </a:solidFill>
                <a:latin typeface="Arial"/>
              </a:defRPr>
            </a:pPr>
            <a:endParaRPr lang="pt-B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C"/>
                </a:solidFill>
                <a:latin typeface="Arial"/>
              </a:defRPr>
            </a:pPr>
            <a:endParaRPr lang="pt-B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pt-BR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18692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280160"/>
            <a:ext cx="3840480" cy="3840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291840"/>
            <a:ext cx="2194560" cy="21945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49" y="573329"/>
            <a:ext cx="499262" cy="49926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4173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ASFF-Net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548640" y="22860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Attention-based Spatial Feature Fusion Network com Loss Assimétrica para Predição de Vida Útil Remanescente (RUL)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48640" y="3429000"/>
            <a:ext cx="0" cy="0"/>
          </a:xfrm>
          <a:prstGeom prst="line">
            <a:avLst/>
          </a:prstGeom>
          <a:noFill/>
          <a:ln/>
        </p:spPr>
      </p:sp>
      <p:sp>
        <p:nvSpPr>
          <p:cNvPr id="9" name="Text 6"/>
          <p:cNvSpPr/>
          <p:nvPr/>
        </p:nvSpPr>
        <p:spPr>
          <a:xfrm>
            <a:off x="548640" y="41605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Ryan Gabriel Elesbão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Faculdade de Computação (FACOM) — Universidade Federal de Uberlândia (UFU)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Manutenção preditiva e o custo do erro assimétrico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1208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002" y="1876569"/>
            <a:ext cx="442204" cy="4422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686191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800"/>
              </a:spcAft>
              <a:buSzPct val="100000"/>
            </a:pPr>
            <a:r>
              <a:rPr lang="en-US" sz="1500" dirty="0">
                <a:solidFill>
                  <a:srgbClr val="1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Motores turbofan (NASA CMAPSS): degradação multivariada e não-linear ao longo do ciclo de vida.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2691614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002" y="2696777"/>
            <a:ext cx="442204" cy="44220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2563598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clássicos (MSE) tratam erro antecipado e erro tardio como equivalentes — mas superestimar a RUL pode levar a falha catastrófica em operação.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548640" y="3539959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002" y="3591946"/>
            <a:ext cx="442204" cy="44220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71600" y="3401568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Sensores possuem relevância variável ao longo do tempo — arquiteturas com peso fixo por sensor ignoram esse comportamento dinâmico.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873252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CONTRIBUIÇÕES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contribuições principais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587752" cy="3063240"/>
          </a:xfrm>
          <a:prstGeom prst="roundRect">
            <a:avLst>
              <a:gd name="adj" fmla="val 318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76756" y="1737360"/>
            <a:ext cx="731520" cy="7315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7223" y="1817827"/>
            <a:ext cx="570586" cy="5705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15544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B6B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31520" y="2651760"/>
            <a:ext cx="2221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Atenção Sensorial Dinâmica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31520" y="3291840"/>
            <a:ext cx="22219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que aprende pesos variáveis por sensor a partir do contexto temporal global.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282696" y="1417320"/>
            <a:ext cx="2587752" cy="3063240"/>
          </a:xfrm>
          <a:prstGeom prst="roundRect">
            <a:avLst>
              <a:gd name="adj" fmla="val 318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10812" y="1737360"/>
            <a:ext cx="731520" cy="7315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1279" y="1817827"/>
            <a:ext cx="570586" cy="57058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19856" y="15544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B6B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465576" y="2651760"/>
            <a:ext cx="2221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Fusão Paralela LSTM + CNN 1D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465576" y="3291840"/>
            <a:ext cx="22219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Topologia ramificada: LSTM modela degradação lenta; CNN 1D detecta anomalias abruptas.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016752" y="1417320"/>
            <a:ext cx="2587752" cy="3063240"/>
          </a:xfrm>
          <a:prstGeom prst="roundRect">
            <a:avLst>
              <a:gd name="adj" fmla="val 318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944868" y="1737360"/>
            <a:ext cx="731520" cy="7315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5335" y="1817827"/>
            <a:ext cx="570586" cy="57058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153912" y="15544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B6B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199632" y="2651760"/>
            <a:ext cx="2221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Loss Assimétrica de Risco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199632" y="3291840"/>
            <a:ext cx="22219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Penaliza fortemente estimativas tardias, induzindo comportamento conservador focado em segurança física.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873252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TRABALHOS RELACIONADOS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Evolução das abordagens para RUL em CMAPSS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7863840" cy="0"/>
          </a:xfrm>
          <a:prstGeom prst="line">
            <a:avLst/>
          </a:prstGeom>
          <a:noFill/>
          <a:ln w="381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2039112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846" y="2103486"/>
            <a:ext cx="456468" cy="4564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-182880" y="1463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2001-2018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-274320" y="2743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clássico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-365760" y="30632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SVR, Random Forest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-274320" y="35661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Breiman 2001; Li et al. 2018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968752" y="2039112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3126" y="2103486"/>
            <a:ext cx="456468" cy="4564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438400" y="1463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2346960" y="2743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CNN 1D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2255520" y="30632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Extração espacial automática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2255520" y="35661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Babu et al. 2016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5590032" y="2039112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4406" y="2103486"/>
            <a:ext cx="456468" cy="45646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059680" y="1463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2017-2018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4968240" y="2743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LSTM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4876800" y="30632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Dependências temporais longas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4876800" y="35661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Zheng et al. 2017; Wu et al. 2018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8211312" y="2039112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5686" y="2103486"/>
            <a:ext cx="456468" cy="45646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680960" y="1463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7589520" y="2743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Atenção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7296912" y="3132157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em features temporais relevantes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7315200" y="3564043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 et al. 2020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548640" y="4343400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sp>
        <p:nvSpPr>
          <p:cNvPr id="30" name="Text 24"/>
          <p:cNvSpPr/>
          <p:nvPr/>
        </p:nvSpPr>
        <p:spPr>
          <a:xfrm>
            <a:off x="822960" y="43434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Lacuna: quase toda a literatura otimiza uma loss simétrica (MSE), ignorando o risco operacional de superestimar a RUL.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873252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de dados: CMAPSS FD001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" y="1467612"/>
            <a:ext cx="356616" cy="3566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3716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sensores brutos + 3 config. operacionais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777240" y="1874520"/>
            <a:ext cx="0" cy="256032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2130552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" y="2180844"/>
            <a:ext cx="356616" cy="35661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88720" y="2084832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Remoção de 9 variáveis constantes/irrelevantes → 15 features ativas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777240" y="2587752"/>
            <a:ext cx="0" cy="256032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548640" y="2843784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" y="2894076"/>
            <a:ext cx="356616" cy="35661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88720" y="2798064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 piecewise linear, com clipping em 130 ciclos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777240" y="3300984"/>
            <a:ext cx="0" cy="256032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548640" y="3557016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" y="3607308"/>
            <a:ext cx="356616" cy="35661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88720" y="3511296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Normalização MinMaxScaler [0, 1]</a:t>
            </a:r>
            <a:endParaRPr lang="en-US" sz="1350" dirty="0"/>
          </a:p>
        </p:txBody>
      </p:sp>
      <p:sp>
        <p:nvSpPr>
          <p:cNvPr id="19" name="Shape 13"/>
          <p:cNvSpPr/>
          <p:nvPr/>
        </p:nvSpPr>
        <p:spPr>
          <a:xfrm>
            <a:off x="777240" y="4014216"/>
            <a:ext cx="0" cy="256032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548640" y="4270248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" y="4320540"/>
            <a:ext cx="356616" cy="35661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188720" y="4224528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Janelas deslizantes 3D: (T=30, F=15)</a:t>
            </a:r>
            <a:endParaRPr lang="en-US" sz="1350" dirty="0"/>
          </a:p>
        </p:txBody>
      </p:sp>
      <p:sp>
        <p:nvSpPr>
          <p:cNvPr id="23" name="Shape 16"/>
          <p:cNvSpPr/>
          <p:nvPr/>
        </p:nvSpPr>
        <p:spPr>
          <a:xfrm>
            <a:off x="6903720" y="1417320"/>
            <a:ext cx="1828800" cy="960120"/>
          </a:xfrm>
          <a:prstGeom prst="roundRect">
            <a:avLst>
              <a:gd name="adj" fmla="val 8571"/>
            </a:avLst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Text 17"/>
          <p:cNvSpPr/>
          <p:nvPr/>
        </p:nvSpPr>
        <p:spPr>
          <a:xfrm>
            <a:off x="6903720" y="149047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2600" dirty="0"/>
          </a:p>
        </p:txBody>
      </p:sp>
      <p:sp>
        <p:nvSpPr>
          <p:cNvPr id="25" name="Text 18"/>
          <p:cNvSpPr/>
          <p:nvPr/>
        </p:nvSpPr>
        <p:spPr>
          <a:xfrm>
            <a:off x="6903720" y="2011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sensores ativos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6903720" y="2514600"/>
            <a:ext cx="1828800" cy="960120"/>
          </a:xfrm>
          <a:prstGeom prst="roundRect">
            <a:avLst>
              <a:gd name="adj" fmla="val 8571"/>
            </a:avLst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7" name="Text 20"/>
          <p:cNvSpPr/>
          <p:nvPr/>
        </p:nvSpPr>
        <p:spPr>
          <a:xfrm>
            <a:off x="6903720" y="258775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T=30</a:t>
            </a:r>
            <a:endParaRPr lang="en-US" sz="2600" dirty="0"/>
          </a:p>
        </p:txBody>
      </p:sp>
      <p:sp>
        <p:nvSpPr>
          <p:cNvPr id="28" name="Text 21"/>
          <p:cNvSpPr/>
          <p:nvPr/>
        </p:nvSpPr>
        <p:spPr>
          <a:xfrm>
            <a:off x="6903720" y="3108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passos temporais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903720" y="3611880"/>
            <a:ext cx="1828800" cy="960120"/>
          </a:xfrm>
          <a:prstGeom prst="roundRect">
            <a:avLst>
              <a:gd name="adj" fmla="val 8571"/>
            </a:avLst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0" name="Text 23"/>
          <p:cNvSpPr/>
          <p:nvPr/>
        </p:nvSpPr>
        <p:spPr>
          <a:xfrm>
            <a:off x="6903720" y="368503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130</a:t>
            </a:r>
            <a:endParaRPr lang="en-US" sz="2600" dirty="0"/>
          </a:p>
        </p:txBody>
      </p:sp>
      <p:sp>
        <p:nvSpPr>
          <p:cNvPr id="31" name="Text 24"/>
          <p:cNvSpPr/>
          <p:nvPr/>
        </p:nvSpPr>
        <p:spPr>
          <a:xfrm>
            <a:off x="6903720" y="4206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ciclos (clip RUL)</a:t>
            </a:r>
            <a:endParaRPr lang="en-US" sz="1050" dirty="0"/>
          </a:p>
        </p:txBody>
      </p:sp>
      <p:sp>
        <p:nvSpPr>
          <p:cNvPr id="32" name="Text 25"/>
          <p:cNvSpPr/>
          <p:nvPr/>
        </p:nvSpPr>
        <p:spPr>
          <a:xfrm>
            <a:off x="873252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2996" y="26377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232996" y="1371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Arquitetura ASFF-Net: visão geral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141732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37160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(30, 15)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783080" y="1760220"/>
            <a:ext cx="365760" cy="0"/>
          </a:xfrm>
          <a:prstGeom prst="line">
            <a:avLst/>
          </a:prstGeom>
          <a:noFill/>
          <a:ln w="2540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148840" y="1234440"/>
            <a:ext cx="1828800" cy="1051560"/>
          </a:xfrm>
          <a:prstGeom prst="roundRect">
            <a:avLst>
              <a:gd name="adj" fmla="val 6957"/>
            </a:avLst>
          </a:prstGeom>
          <a:solidFill>
            <a:srgbClr val="CADCFC"/>
          </a:solidFill>
          <a:ln/>
        </p:spPr>
      </p:sp>
      <p:sp>
        <p:nvSpPr>
          <p:cNvPr id="8" name="Text 6"/>
          <p:cNvSpPr/>
          <p:nvPr/>
        </p:nvSpPr>
        <p:spPr>
          <a:xfrm>
            <a:off x="2240280" y="1234440"/>
            <a:ext cx="1645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Spatial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(mean → 16 ReLU → 15 sigmoid)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224528" y="937260"/>
            <a:ext cx="0" cy="164592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77640" y="1760220"/>
            <a:ext cx="246888" cy="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594360"/>
            <a:ext cx="1600200" cy="685800"/>
          </a:xfrm>
          <a:prstGeom prst="roundRect">
            <a:avLst>
              <a:gd name="adj" fmla="val 9333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4480560" y="59436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64→32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Dropout 0.2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224528" y="937260"/>
            <a:ext cx="210312" cy="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434840" y="1417320"/>
            <a:ext cx="1600200" cy="685800"/>
          </a:xfrm>
          <a:prstGeom prst="roundRect">
            <a:avLst>
              <a:gd name="adj" fmla="val 9333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4480560" y="141732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Conv1D 32 (k=3)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GlobalMaxPool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224528" y="1760220"/>
            <a:ext cx="210312" cy="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434840" y="2240280"/>
            <a:ext cx="1600200" cy="685800"/>
          </a:xfrm>
          <a:prstGeom prst="roundRect">
            <a:avLst>
              <a:gd name="adj" fmla="val 9333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4480560" y="224028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Dense 32 (skip)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224528" y="2583180"/>
            <a:ext cx="210312" cy="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291072" y="937260"/>
            <a:ext cx="0" cy="164592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35040" y="937260"/>
            <a:ext cx="256032" cy="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35040" y="1760220"/>
            <a:ext cx="256032" cy="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35040" y="2583180"/>
            <a:ext cx="256032" cy="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91072" y="2286000"/>
            <a:ext cx="155448" cy="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446520" y="1965960"/>
            <a:ext cx="1051560" cy="640080"/>
          </a:xfrm>
          <a:prstGeom prst="roundRect">
            <a:avLst>
              <a:gd name="adj" fmla="val 10000"/>
            </a:avLst>
          </a:prstGeom>
          <a:solidFill>
            <a:srgbClr val="5B6B8C"/>
          </a:solidFill>
          <a:ln/>
        </p:spPr>
      </p:sp>
      <p:sp>
        <p:nvSpPr>
          <p:cNvPr id="26" name="Text 24"/>
          <p:cNvSpPr/>
          <p:nvPr/>
        </p:nvSpPr>
        <p:spPr>
          <a:xfrm>
            <a:off x="6446520" y="196596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(96-d)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498080" y="2286000"/>
            <a:ext cx="320040" cy="0"/>
          </a:xfrm>
          <a:prstGeom prst="line">
            <a:avLst/>
          </a:prstGeom>
          <a:noFill/>
          <a:ln w="2540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863840" y="1920240"/>
            <a:ext cx="914400" cy="731520"/>
          </a:xfrm>
          <a:prstGeom prst="roundRect">
            <a:avLst>
              <a:gd name="adj" fmla="val 10000"/>
            </a:avLst>
          </a:prstGeom>
          <a:solidFill>
            <a:srgbClr val="FF6B35"/>
          </a:solidFill>
          <a:ln/>
        </p:spPr>
      </p:sp>
      <p:sp>
        <p:nvSpPr>
          <p:cNvPr id="29" name="Text 27"/>
          <p:cNvSpPr/>
          <p:nvPr/>
        </p:nvSpPr>
        <p:spPr>
          <a:xfrm>
            <a:off x="7882128" y="1920240"/>
            <a:ext cx="8778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0.3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Dense 32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RUL (linear)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Fluxo: a atenção pondera dinamicamente os 15 sensores antes de alimentar três caminhos paralelos que capturam padrões complementares (tendência lenta, anomalias abruptas e sinal direto).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48640" y="3977640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F7F9FC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" y="397764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build_asff_net() instancia a arquitetura completa; camada customizada DynamicSensorWeights implementa a atenção espacial.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73252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FUNÇÃO DE PERDA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Loss Assimétrica orientada a risco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49040" cy="182880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08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 = ŷ − y  (resíduo)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1965960"/>
            <a:ext cx="3383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L(d) = exp(d/10) − 1,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FF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 d &gt; 0  (tardio / perigoso)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L(d) = exp(−d/13) − 1,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C9D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 d ≤ 0  (antecipado / seguro)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333756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Constante 10 (penalidade tardia) &lt; 13 (penalidade antecipada) → assimetria intencional que favorece subestimação segura.</a:t>
            </a:r>
            <a:endParaRPr lang="en-US" sz="115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4526280" y="1280160"/>
          <a:ext cx="429768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6"/>
          <p:cNvSpPr/>
          <p:nvPr/>
        </p:nvSpPr>
        <p:spPr>
          <a:xfrm>
            <a:off x="4526280" y="46634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Nota: MSE mostrada em escala reduzida apenas para comparar o formato das curvas — a assimetria evidencia a penalidade abrupta para d &gt; 0.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73252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Configuração de treinamento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493776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508760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Otimizador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926080" y="1508760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Adam (lr = 0.001)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167128"/>
            <a:ext cx="493776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2167128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926080" y="2167128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825496"/>
            <a:ext cx="493776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2825496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interna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926080" y="2825496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20%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483864"/>
            <a:ext cx="493776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3483864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Épocas máximas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926080" y="3483864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142232"/>
            <a:ext cx="493776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4142232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26080" y="4142232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patience = 15, restore best weights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943600" y="1508760"/>
            <a:ext cx="822960" cy="8229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4126" y="1599286"/>
            <a:ext cx="641909" cy="641909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5715000" y="25146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~7s / época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(ASFF-Net, com aceleração de hardware)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577840" y="3337560"/>
            <a:ext cx="3017520" cy="123444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23" name="Text 20"/>
          <p:cNvSpPr/>
          <p:nvPr/>
        </p:nvSpPr>
        <p:spPr>
          <a:xfrm>
            <a:off x="5760720" y="3337560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80/20 (treino/validação) + teste oficial cego NASA (test_FD001 × RUL_FD001)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873252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Desempenho quantitativo (CMAPSS FD001)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4572000" cy="18288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Modelo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Fase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MAE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RMSE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Validação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14.47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19.77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Teste oficial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13.67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18.71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B2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ASFF-Net (proposto)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Validação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13.45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16.65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B2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ASFF-Net (proposto)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Teste oficial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13.24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16.40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429000"/>
            <a:ext cx="4572000" cy="1051560"/>
          </a:xfrm>
          <a:prstGeom prst="roundRect">
            <a:avLst>
              <a:gd name="adj" fmla="val 7826"/>
            </a:avLst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34747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45911.80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2606040" y="34747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CMAPSS Score oficial — reflete a natureza conservadora da loss assimétrica, priorizando segurança sobre erro simétrico mínimo.</a:t>
            </a:r>
            <a:endParaRPr lang="en-US" sz="105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5303520" y="1325880"/>
          <a:ext cx="356616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5"/>
          <p:cNvSpPr/>
          <p:nvPr/>
        </p:nvSpPr>
        <p:spPr>
          <a:xfrm>
            <a:off x="873252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Convergência e viés conservador induzido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457201" y="4245805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 (patience=15) </a:t>
            </a:r>
            <a:r>
              <a:rPr lang="en-US" sz="1050" i="1" dirty="0" err="1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</a:t>
            </a:r>
            <a:r>
              <a:rPr lang="en-US" sz="10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overfitting; pesos </a:t>
            </a:r>
            <a:r>
              <a:rPr lang="en-US" sz="1050" i="1" dirty="0" err="1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ideais</a:t>
            </a:r>
            <a:r>
              <a:rPr lang="en-US" sz="10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i="1" dirty="0" err="1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restaurados</a:t>
            </a:r>
            <a:r>
              <a:rPr lang="en-US" sz="10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i="1" dirty="0" err="1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</a:t>
            </a:r>
            <a:r>
              <a:rPr lang="en-US" sz="10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final (MAE </a:t>
            </a:r>
            <a:r>
              <a:rPr lang="en-US" sz="1050" i="1" dirty="0" err="1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</a:t>
            </a:r>
            <a:r>
              <a:rPr lang="en-US" sz="10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13.45).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4803237" y="4108688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t-BR" sz="10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entre a Vida Útil Restante (RUL) real e as previsões do modelo no conjunto de teste. Note o viés conservador induzido pela Função de Perda Assimétrica.</a:t>
            </a:r>
            <a:r>
              <a:rPr lang="en-US" sz="10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873252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299E9E8E-688C-4D61-B4B1-E9E23DBF7D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1" y="1704000"/>
            <a:ext cx="3494942" cy="2362266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AB069EF5-0C4C-43FF-B9CD-34D77E6396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9776" y="1783701"/>
            <a:ext cx="4658165" cy="210680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Limitações e trabalhos futuros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990" y="1523390"/>
            <a:ext cx="427939" cy="4279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41732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Rigidez da taxa de aprendizado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280160" y="178308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Ausência de scheduler dinâmico (ex.: ReduceLROnPlateau) limita o refinamento fino na convergência final.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242316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990" y="2483510"/>
            <a:ext cx="427939" cy="42793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237744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Rigidez espacial (janela fixa T=30)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280160" y="274320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 a adaptação a motores com degradação mais lenta; motiva amostragem multi-janela.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48640" y="3520440"/>
            <a:ext cx="8046720" cy="1188720"/>
          </a:xfrm>
          <a:prstGeom prst="roundRect">
            <a:avLst>
              <a:gd name="adj" fmla="val 6923"/>
            </a:avLst>
          </a:prstGeom>
          <a:solidFill>
            <a:srgbClr val="1E2761"/>
          </a:solidFill>
          <a:ln/>
        </p:spPr>
      </p:sp>
      <p:sp>
        <p:nvSpPr>
          <p:cNvPr id="13" name="Shape 9"/>
          <p:cNvSpPr/>
          <p:nvPr/>
        </p:nvSpPr>
        <p:spPr>
          <a:xfrm>
            <a:off x="777240" y="370332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620" y="3768700"/>
            <a:ext cx="463601" cy="46360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00200" y="361188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Trabalhos futuros: 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acoplar decaimento automático de learning rate; arquiteturas multi-escala temporal com janelas de tamanho variável; validar em subconjuntos operacionais mais complexos (FD002–FD004) para medir invariância a condições de voo.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873252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2926080"/>
            <a:ext cx="3840480" cy="3840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4864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78" y="624078"/>
            <a:ext cx="534924" cy="5349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417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Conclusão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548640" y="228600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885" y="2328245"/>
            <a:ext cx="299557" cy="29955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43000" y="2231136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ASFF-Net supera o baseline Random Forest em MAE e RMSE, na validação e no teste oficial.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548640" y="290779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885" y="2950037"/>
            <a:ext cx="299557" cy="29955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43000" y="285292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atenção espacial dinâmica e a fusão paralela LSTM+CNN capturam degradação lenta e anomalias abruptas simultaneamente.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548640" y="352958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885" y="3571829"/>
            <a:ext cx="299557" cy="29955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43000" y="34747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loss assimétrica traduz o risco operacional real em otimização, favorecendo subestimação segura da RUL.</a:t>
            </a:r>
            <a:endParaRPr lang="en-US" sz="1400" dirty="0"/>
          </a:p>
        </p:txBody>
      </p:sp>
      <p:sp>
        <p:nvSpPr>
          <p:cNvPr id="15" name="Text 9"/>
          <p:cNvSpPr/>
          <p:nvPr/>
        </p:nvSpPr>
        <p:spPr>
          <a:xfrm>
            <a:off x="548640" y="44805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Obrigado! Perguntas?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909</Words>
  <Application>Microsoft Office PowerPoint</Application>
  <PresentationFormat>Apresentação na tela (16:9)</PresentationFormat>
  <Paragraphs>161</Paragraphs>
  <Slides>12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ASFF-Net: Predição de RUL com Loss Assimétrica</dc:title>
  <dc:subject>PptxGenJS Presentation</dc:subject>
  <dc:creator>Ryan Gabriel Elesbão</dc:creator>
  <cp:lastModifiedBy>Ryan Gabriel Elesbão</cp:lastModifiedBy>
  <cp:revision>4</cp:revision>
  <dcterms:created xsi:type="dcterms:W3CDTF">2026-07-06T22:42:51Z</dcterms:created>
  <dcterms:modified xsi:type="dcterms:W3CDTF">2026-07-07T00:34:26Z</dcterms:modified>
</cp:coreProperties>
</file>